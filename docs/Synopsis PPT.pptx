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ooper Hewitt Bold" charset="1" panose="00000000000000000000"/>
      <p:regular r:id="rId13"/>
    </p:embeddedFont>
    <p:embeddedFont>
      <p:font typeface="Cooper Hewitt" charset="1" panose="00000000000000000000"/>
      <p:regular r:id="rId14"/>
    </p:embeddedFont>
    <p:embeddedFont>
      <p:font typeface="DM Sans Bold" charset="1" panose="00000000000000000000"/>
      <p:regular r:id="rId15"/>
    </p:embeddedFont>
    <p:embeddedFont>
      <p:font typeface="DM Sans" charset="1" panose="00000000000000000000"/>
      <p:regular r:id="rId16"/>
    </p:embeddedFont>
    <p:embeddedFont>
      <p:font typeface="Quicksand Bold" charset="1" panose="00000000000000000000"/>
      <p:regular r:id="rId17"/>
    </p:embeddedFont>
    <p:embeddedFont>
      <p:font typeface="Quicksan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VAGUUUJUNDc.mp4" Type="http://schemas.openxmlformats.org/officeDocument/2006/relationships/video"/><Relationship Id="rId6" Target="../media/VAGUUUJUNDc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45368" y="3086100"/>
            <a:ext cx="5755870" cy="4114800"/>
          </a:xfrm>
          <a:custGeom>
            <a:avLst/>
            <a:gdLst/>
            <a:ahLst/>
            <a:cxnLst/>
            <a:rect r="r" b="b" t="t" l="l"/>
            <a:pathLst>
              <a:path h="4114800" w="5755870">
                <a:moveTo>
                  <a:pt x="0" y="0"/>
                </a:moveTo>
                <a:lnTo>
                  <a:pt x="5755870" y="0"/>
                </a:lnTo>
                <a:lnTo>
                  <a:pt x="5755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3975" y="2560996"/>
            <a:ext cx="9904619" cy="320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0"/>
              </a:lnSpc>
            </a:pPr>
            <a:r>
              <a:rPr lang="en-US" sz="851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ACCELERATION OF 2D-CONVOLUTION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3975" y="5435323"/>
            <a:ext cx="10269005" cy="1765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09"/>
              </a:lnSpc>
            </a:pPr>
            <a:r>
              <a:rPr lang="en-US" sz="8864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ON A RISC-V CORE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91548" y="4250086"/>
            <a:ext cx="6195933" cy="548101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919008" y="276225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.......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-41910"/>
            <a:ext cx="9567135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671" y="1486273"/>
            <a:ext cx="631334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2D CONVOLUTION: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12128"/>
            <a:ext cx="16153831" cy="273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8"/>
              </a:lnSpc>
            </a:pPr>
            <a:r>
              <a:rPr lang="en-US" sz="314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2D convolution is a linear transformation that involves a kernel sliding over a 2D input data to produce a single output pixel. It's a common type of convolution used in digital image processing. </a:t>
            </a:r>
          </a:p>
          <a:p>
            <a:pPr algn="ctr">
              <a:lnSpc>
                <a:spcPts val="4398"/>
              </a:lnSpc>
            </a:pPr>
          </a:p>
          <a:p>
            <a:pPr algn="ctr">
              <a:lnSpc>
                <a:spcPts val="4398"/>
              </a:lnSpc>
            </a:pPr>
            <a:r>
              <a:rPr lang="en-US" sz="314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8220" y="5012570"/>
            <a:ext cx="476404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ACCELERATION: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766950"/>
            <a:ext cx="9567135" cy="243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Parallelism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Custom Extensions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Caching and Memory Access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254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42989" y="283710"/>
            <a:ext cx="3673561" cy="2377796"/>
          </a:xfrm>
          <a:custGeom>
            <a:avLst/>
            <a:gdLst/>
            <a:ahLst/>
            <a:cxnLst/>
            <a:rect r="r" b="b" t="t" l="l"/>
            <a:pathLst>
              <a:path h="2377796" w="3673561">
                <a:moveTo>
                  <a:pt x="0" y="0"/>
                </a:moveTo>
                <a:lnTo>
                  <a:pt x="3673561" y="0"/>
                </a:lnTo>
                <a:lnTo>
                  <a:pt x="3673561" y="2377795"/>
                </a:lnTo>
                <a:lnTo>
                  <a:pt x="0" y="2377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002109" y="5143500"/>
            <a:ext cx="2017899" cy="2017899"/>
          </a:xfrm>
          <a:custGeom>
            <a:avLst/>
            <a:gdLst/>
            <a:ahLst/>
            <a:cxnLst/>
            <a:rect r="r" b="b" t="t" l="l"/>
            <a:pathLst>
              <a:path h="2017899" w="2017899">
                <a:moveTo>
                  <a:pt x="0" y="0"/>
                </a:moveTo>
                <a:lnTo>
                  <a:pt x="2017899" y="0"/>
                </a:lnTo>
                <a:lnTo>
                  <a:pt x="2017899" y="2017899"/>
                </a:lnTo>
                <a:lnTo>
                  <a:pt x="0" y="20178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83797" y="-211590"/>
            <a:ext cx="13167272" cy="173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 </a:t>
            </a:r>
            <a:r>
              <a:rPr lang="en-US" sz="87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3797" y="1658974"/>
            <a:ext cx="14833282" cy="121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3"/>
              </a:lnSpc>
              <a:spcBef>
                <a:spcPct val="0"/>
              </a:spcBef>
            </a:pPr>
            <a:r>
              <a:rPr lang="en-US" sz="2553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Optimizing the performance of 2D convolution operations is critical for enhancing the efficiency of image processing, computer vision, and deep learning applications, particularly on systems with limited computational resources.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9624" y="3020440"/>
            <a:ext cx="15084543" cy="326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3"/>
              </a:lnSpc>
            </a:pPr>
            <a:r>
              <a:rPr lang="en-US" b="true" sz="2553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</a:t>
            </a:r>
            <a:r>
              <a:rPr lang="en-US" sz="2553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just" marL="551259" indent="-275630" lvl="1">
              <a:lnSpc>
                <a:spcPts val="32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3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Computational Efficiency</a:t>
            </a:r>
            <a:r>
              <a:rPr lang="en-US" sz="2553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2D c</a:t>
            </a:r>
            <a:r>
              <a:rPr lang="en-US" sz="2553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onvolution is resource-intensive, requiring significant processing power and time.</a:t>
            </a:r>
          </a:p>
          <a:p>
            <a:pPr algn="just" marL="551259" indent="-275630" lvl="1">
              <a:lnSpc>
                <a:spcPts val="32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3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Limited Resources</a:t>
            </a:r>
            <a:r>
              <a:rPr lang="en-US" sz="2553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Systems with constrained computational resources (e.g., RISC-V cores) face challenges in maintaining both speed and accuracy.</a:t>
            </a:r>
          </a:p>
          <a:p>
            <a:pPr algn="just" marL="551259" indent="-275630" lvl="1">
              <a:lnSpc>
                <a:spcPts val="32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3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Convolution Acceleration</a:t>
            </a:r>
            <a:r>
              <a:rPr lang="en-US" sz="2553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The goal is to accelerate 2D convolution operations without impacting the core CPU’s performance or consuming excessive hardware resources.</a:t>
            </a:r>
          </a:p>
          <a:p>
            <a:pPr algn="just">
              <a:lnSpc>
                <a:spcPts val="329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29624" y="6133400"/>
            <a:ext cx="15227456" cy="3676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9"/>
              </a:lnSpc>
            </a:pPr>
            <a:r>
              <a:rPr lang="en-US" b="true" sz="2550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Key Problem</a:t>
            </a:r>
            <a:r>
              <a:rPr lang="en-US" sz="2550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just" marL="550545" indent="-275272" lvl="1">
              <a:lnSpc>
                <a:spcPts val="32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0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Hardware Block Design</a:t>
            </a:r>
            <a:r>
              <a:rPr lang="en-US" sz="2550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A separate hardware bl</a:t>
            </a:r>
            <a:r>
              <a:rPr lang="en-US" sz="2550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ock for convolution needs to be implemented to improve performance.</a:t>
            </a:r>
          </a:p>
          <a:p>
            <a:pPr algn="just" marL="550545" indent="-275272" lvl="1">
              <a:lnSpc>
                <a:spcPts val="32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50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Design Constraints</a:t>
            </a:r>
            <a:r>
              <a:rPr lang="en-US" sz="2550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</a:p>
          <a:p>
            <a:pPr algn="just" marL="1101090" indent="-367030" lvl="2">
              <a:lnSpc>
                <a:spcPts val="328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50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Cycle Efficiency</a:t>
            </a:r>
            <a:r>
              <a:rPr lang="en-US" sz="2550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Reduce the number of cycles required for convolution.</a:t>
            </a:r>
          </a:p>
          <a:p>
            <a:pPr algn="just" marL="1101090" indent="-367030" lvl="2">
              <a:lnSpc>
                <a:spcPts val="328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50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Register Usage</a:t>
            </a:r>
            <a:r>
              <a:rPr lang="en-US" sz="2550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Minimize the use of registers in the design.</a:t>
            </a:r>
          </a:p>
          <a:p>
            <a:pPr algn="just" marL="1101090" indent="-367030" lvl="2">
              <a:lnSpc>
                <a:spcPts val="328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50" spc="-14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Logic Elements</a:t>
            </a:r>
            <a:r>
              <a:rPr lang="en-US" sz="2550" spc="-14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Limit the consumption of logic resources to achieve a balance between performance and resource utilization.</a:t>
            </a:r>
          </a:p>
          <a:p>
            <a:pPr algn="just">
              <a:lnSpc>
                <a:spcPts val="32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44458" y="5556560"/>
            <a:ext cx="4780724" cy="3024894"/>
          </a:xfrm>
          <a:custGeom>
            <a:avLst/>
            <a:gdLst/>
            <a:ahLst/>
            <a:cxnLst/>
            <a:rect r="r" b="b" t="t" l="l"/>
            <a:pathLst>
              <a:path h="3024894" w="4780724">
                <a:moveTo>
                  <a:pt x="0" y="0"/>
                </a:moveTo>
                <a:lnTo>
                  <a:pt x="4780724" y="0"/>
                </a:lnTo>
                <a:lnTo>
                  <a:pt x="4780724" y="3024894"/>
                </a:lnTo>
                <a:lnTo>
                  <a:pt x="0" y="3024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57650" y="1028700"/>
            <a:ext cx="2328587" cy="3755786"/>
          </a:xfrm>
          <a:custGeom>
            <a:avLst/>
            <a:gdLst/>
            <a:ahLst/>
            <a:cxnLst/>
            <a:rect r="r" b="b" t="t" l="l"/>
            <a:pathLst>
              <a:path h="3755786" w="2328587">
                <a:moveTo>
                  <a:pt x="0" y="0"/>
                </a:moveTo>
                <a:lnTo>
                  <a:pt x="2328588" y="0"/>
                </a:lnTo>
                <a:lnTo>
                  <a:pt x="2328588" y="3755786"/>
                </a:lnTo>
                <a:lnTo>
                  <a:pt x="0" y="3755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8672" y="3200971"/>
            <a:ext cx="12483503" cy="538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8772" indent="-299386" lvl="1">
              <a:lnSpc>
                <a:spcPts val="3882"/>
              </a:lnSpc>
              <a:buFont typeface="Arial"/>
              <a:buChar char="•"/>
            </a:pPr>
            <a:r>
              <a:rPr lang="en-US" sz="2773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Our solution proposes a specialised hardware block dedicated to handling convolution operations. </a:t>
            </a:r>
          </a:p>
          <a:p>
            <a:pPr algn="just" marL="598772" indent="-299386" lvl="1">
              <a:lnSpc>
                <a:spcPts val="3882"/>
              </a:lnSpc>
              <a:buFont typeface="Arial"/>
              <a:buChar char="•"/>
            </a:pPr>
            <a:r>
              <a:rPr lang="en-US" sz="2773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PicoRV32 RISC-V core will be adopted as the processor and pre-existing extensions like Vector extension, Multiplication &amp; Division will be utilized.</a:t>
            </a:r>
          </a:p>
          <a:p>
            <a:pPr algn="just" marL="598772" indent="-299386" lvl="1">
              <a:lnSpc>
                <a:spcPts val="3882"/>
              </a:lnSpc>
              <a:buFont typeface="Arial"/>
              <a:buChar char="•"/>
            </a:pPr>
            <a:r>
              <a:rPr lang="en-US" sz="2773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Fast Fourier transform convolution (FFT), which has an time complexity of O(NlogN)  as opposed to conventional algorithm having a complexity of O(N2). </a:t>
            </a:r>
          </a:p>
          <a:p>
            <a:pPr algn="just" marL="598772" indent="-299386" lvl="1">
              <a:lnSpc>
                <a:spcPts val="3882"/>
              </a:lnSpc>
              <a:buFont typeface="Arial"/>
              <a:buChar char="•"/>
            </a:pPr>
            <a:r>
              <a:rPr lang="en-US" sz="2773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This project operates on kernel sizes 3x3,5x5,7x7. </a:t>
            </a:r>
          </a:p>
          <a:p>
            <a:pPr algn="just" marL="598772" indent="-299386" lvl="1">
              <a:lnSpc>
                <a:spcPts val="3882"/>
              </a:lnSpc>
              <a:buFont typeface="Arial"/>
              <a:buChar char="•"/>
            </a:pPr>
            <a:r>
              <a:rPr lang="en-US" sz="2773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Aim is to achieve fewer multiplications performed, cycles saved, while not affecting the normal operation of the ALU and ensuring gain in performance, while maintaining the same power consumption.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6851"/>
            <a:ext cx="7072639" cy="173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9"/>
              </a:lnSpc>
            </a:pPr>
            <a:r>
              <a:rPr lang="en-US" sz="8699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PROPOSED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298765"/>
            <a:ext cx="7072639" cy="173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79"/>
              </a:lnSpc>
            </a:pPr>
            <a:r>
              <a:rPr lang="en-US" sz="8699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504322" y="1747651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2504322" y="2209919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504322" y="2672187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2504322" y="3134454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2504322" y="3596722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2504322" y="4058990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3223273" y="1028700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3685541" y="1028700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4147808" y="1028700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4610076" y="1028700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5072344" y="1028700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5534612" y="1028700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-41614">
            <a:off x="12813520" y="1365782"/>
            <a:ext cx="3075183" cy="3075183"/>
            <a:chOff x="0" y="0"/>
            <a:chExt cx="1331444" cy="13314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1444" cy="1331444"/>
            </a:xfrm>
            <a:custGeom>
              <a:avLst/>
              <a:gdLst/>
              <a:ahLst/>
              <a:cxnLst/>
              <a:rect r="r" b="b" t="t" l="l"/>
              <a:pathLst>
                <a:path h="1331444" w="1331444">
                  <a:moveTo>
                    <a:pt x="62939" y="0"/>
                  </a:moveTo>
                  <a:lnTo>
                    <a:pt x="1268505" y="0"/>
                  </a:lnTo>
                  <a:cubicBezTo>
                    <a:pt x="1285197" y="0"/>
                    <a:pt x="1301206" y="6631"/>
                    <a:pt x="1313009" y="18434"/>
                  </a:cubicBezTo>
                  <a:cubicBezTo>
                    <a:pt x="1324813" y="30238"/>
                    <a:pt x="1331444" y="46246"/>
                    <a:pt x="1331444" y="62939"/>
                  </a:cubicBezTo>
                  <a:lnTo>
                    <a:pt x="1331444" y="1268505"/>
                  </a:lnTo>
                  <a:cubicBezTo>
                    <a:pt x="1331444" y="1285197"/>
                    <a:pt x="1324813" y="1301206"/>
                    <a:pt x="1313009" y="1313009"/>
                  </a:cubicBezTo>
                  <a:cubicBezTo>
                    <a:pt x="1301206" y="1324813"/>
                    <a:pt x="1285197" y="1331444"/>
                    <a:pt x="1268505" y="1331444"/>
                  </a:cubicBezTo>
                  <a:lnTo>
                    <a:pt x="62939" y="1331444"/>
                  </a:lnTo>
                  <a:cubicBezTo>
                    <a:pt x="46246" y="1331444"/>
                    <a:pt x="30238" y="1324813"/>
                    <a:pt x="18434" y="1313009"/>
                  </a:cubicBezTo>
                  <a:cubicBezTo>
                    <a:pt x="6631" y="1301206"/>
                    <a:pt x="0" y="1285197"/>
                    <a:pt x="0" y="1268505"/>
                  </a:cubicBezTo>
                  <a:lnTo>
                    <a:pt x="0" y="62939"/>
                  </a:lnTo>
                  <a:cubicBezTo>
                    <a:pt x="0" y="46246"/>
                    <a:pt x="6631" y="30238"/>
                    <a:pt x="18434" y="18434"/>
                  </a:cubicBezTo>
                  <a:cubicBezTo>
                    <a:pt x="30238" y="6631"/>
                    <a:pt x="46246" y="0"/>
                    <a:pt x="62939" y="0"/>
                  </a:cubicBezTo>
                  <a:close/>
                </a:path>
              </a:pathLst>
            </a:custGeom>
            <a:solidFill>
              <a:srgbClr val="FABDBD"/>
            </a:solidFill>
            <a:ln w="95250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31444" cy="136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2504934" y="6354142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2504934" y="6816410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504934" y="7278678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2504934" y="7740946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2504934" y="8203213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2504934" y="8665481"/>
            <a:ext cx="3749241" cy="0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3223885" y="5635191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3686153" y="5635191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4148421" y="5635191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4610689" y="5635191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15072956" y="5635191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5535224" y="5635191"/>
            <a:ext cx="0" cy="3749241"/>
          </a:xfrm>
          <a:prstGeom prst="line">
            <a:avLst/>
          </a:prstGeom>
          <a:ln cap="rnd" w="219075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2842576" y="5972220"/>
            <a:ext cx="3075183" cy="3075183"/>
            <a:chOff x="0" y="0"/>
            <a:chExt cx="1331444" cy="13314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31444" cy="1331444"/>
            </a:xfrm>
            <a:custGeom>
              <a:avLst/>
              <a:gdLst/>
              <a:ahLst/>
              <a:cxnLst/>
              <a:rect r="r" b="b" t="t" l="l"/>
              <a:pathLst>
                <a:path h="1331444" w="1331444">
                  <a:moveTo>
                    <a:pt x="62939" y="0"/>
                  </a:moveTo>
                  <a:lnTo>
                    <a:pt x="1268505" y="0"/>
                  </a:lnTo>
                  <a:cubicBezTo>
                    <a:pt x="1285197" y="0"/>
                    <a:pt x="1301206" y="6631"/>
                    <a:pt x="1313009" y="18434"/>
                  </a:cubicBezTo>
                  <a:cubicBezTo>
                    <a:pt x="1324813" y="30238"/>
                    <a:pt x="1331444" y="46246"/>
                    <a:pt x="1331444" y="62939"/>
                  </a:cubicBezTo>
                  <a:lnTo>
                    <a:pt x="1331444" y="1268505"/>
                  </a:lnTo>
                  <a:cubicBezTo>
                    <a:pt x="1331444" y="1285197"/>
                    <a:pt x="1324813" y="1301206"/>
                    <a:pt x="1313009" y="1313009"/>
                  </a:cubicBezTo>
                  <a:cubicBezTo>
                    <a:pt x="1301206" y="1324813"/>
                    <a:pt x="1285197" y="1331444"/>
                    <a:pt x="1268505" y="1331444"/>
                  </a:cubicBezTo>
                  <a:lnTo>
                    <a:pt x="62939" y="1331444"/>
                  </a:lnTo>
                  <a:cubicBezTo>
                    <a:pt x="46246" y="1331444"/>
                    <a:pt x="30238" y="1324813"/>
                    <a:pt x="18434" y="1313009"/>
                  </a:cubicBezTo>
                  <a:cubicBezTo>
                    <a:pt x="6631" y="1301206"/>
                    <a:pt x="0" y="1285197"/>
                    <a:pt x="0" y="1268505"/>
                  </a:cubicBezTo>
                  <a:lnTo>
                    <a:pt x="0" y="62939"/>
                  </a:lnTo>
                  <a:cubicBezTo>
                    <a:pt x="0" y="46246"/>
                    <a:pt x="6631" y="30238"/>
                    <a:pt x="18434" y="18434"/>
                  </a:cubicBezTo>
                  <a:cubicBezTo>
                    <a:pt x="30238" y="6631"/>
                    <a:pt x="46246" y="0"/>
                    <a:pt x="62939" y="0"/>
                  </a:cubicBezTo>
                  <a:close/>
                </a:path>
              </a:pathLst>
            </a:custGeom>
            <a:solidFill>
              <a:srgbClr val="DDA2A2"/>
            </a:solidFill>
            <a:ln w="95250" cap="rnd">
              <a:solidFill>
                <a:srgbClr val="272727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31444" cy="1369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026052" y="7038007"/>
            <a:ext cx="2707005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CONVOLUTION </a:t>
            </a:r>
          </a:p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ENGINE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9045" y="583436"/>
            <a:ext cx="9444236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0"/>
              </a:lnSpc>
            </a:pPr>
            <a:r>
              <a:rPr lang="en-US" sz="8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PROJECT  </a:t>
            </a:r>
            <a:r>
              <a:rPr lang="en-US" sz="87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STEPS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25440" y="2248406"/>
            <a:ext cx="12786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Clock: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54190" y="2248406"/>
            <a:ext cx="127825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0.5 GHz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25440" y="2926757"/>
            <a:ext cx="127825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Cache: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453760" y="2926757"/>
            <a:ext cx="127825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8 MB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25440" y="3605109"/>
            <a:ext cx="127825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Cores: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453760" y="3605109"/>
            <a:ext cx="127825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025440" y="1644002"/>
            <a:ext cx="270700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RISC-CORE</a:t>
            </a:r>
          </a:p>
        </p:txBody>
      </p:sp>
      <p:sp>
        <p:nvSpPr>
          <p:cNvPr name="AutoShape 41" id="41"/>
          <p:cNvSpPr/>
          <p:nvPr/>
        </p:nvSpPr>
        <p:spPr>
          <a:xfrm>
            <a:off x="13223273" y="4555637"/>
            <a:ext cx="0" cy="1175726"/>
          </a:xfrm>
          <a:prstGeom prst="line">
            <a:avLst/>
          </a:prstGeom>
          <a:ln cap="flat" w="2095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13685846" y="4555637"/>
            <a:ext cx="0" cy="1175726"/>
          </a:xfrm>
          <a:prstGeom prst="line">
            <a:avLst/>
          </a:prstGeom>
          <a:ln cap="flat" w="2095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4147503" y="4555637"/>
            <a:ext cx="0" cy="1175726"/>
          </a:xfrm>
          <a:prstGeom prst="line">
            <a:avLst/>
          </a:prstGeom>
          <a:ln cap="flat" w="2095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14609771" y="4640440"/>
            <a:ext cx="0" cy="1175726"/>
          </a:xfrm>
          <a:prstGeom prst="line">
            <a:avLst/>
          </a:prstGeom>
          <a:ln cap="flat" w="2095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5072039" y="4555637"/>
            <a:ext cx="0" cy="1175726"/>
          </a:xfrm>
          <a:prstGeom prst="line">
            <a:avLst/>
          </a:prstGeom>
          <a:ln cap="flat" w="2095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0093739" y="5820298"/>
            <a:ext cx="9525" cy="2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  <a:spcBef>
                <a:spcPct val="0"/>
              </a:spcBef>
            </a:pPr>
          </a:p>
        </p:txBody>
      </p:sp>
      <p:sp>
        <p:nvSpPr>
          <p:cNvPr name="AutoShape 47" id="47"/>
          <p:cNvSpPr/>
          <p:nvPr/>
        </p:nvSpPr>
        <p:spPr>
          <a:xfrm>
            <a:off x="15534306" y="4555637"/>
            <a:ext cx="0" cy="1175726"/>
          </a:xfrm>
          <a:prstGeom prst="line">
            <a:avLst/>
          </a:prstGeom>
          <a:ln cap="flat" w="209550">
            <a:solidFill>
              <a:srgbClr val="27272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1123950" y="2419856"/>
            <a:ext cx="628084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1.Defining Requirements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23950" y="3439064"/>
            <a:ext cx="863143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2.Implementing FFT Convolution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23950" y="4470384"/>
            <a:ext cx="324385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3.Parallelism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3950" y="5454170"/>
            <a:ext cx="929947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4.Vector Extension Implementation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23950" y="6522758"/>
            <a:ext cx="959663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5.Memory Management and Storage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23950" y="7590829"/>
            <a:ext cx="953442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6.Simulation and Result Comparison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0952" y="-4614566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9565" y="1759876"/>
            <a:ext cx="9230809" cy="8384244"/>
          </a:xfrm>
          <a:custGeom>
            <a:avLst/>
            <a:gdLst/>
            <a:ahLst/>
            <a:cxnLst/>
            <a:rect r="r" b="b" t="t" l="l"/>
            <a:pathLst>
              <a:path h="8384244" w="9230809">
                <a:moveTo>
                  <a:pt x="0" y="0"/>
                </a:moveTo>
                <a:lnTo>
                  <a:pt x="9230808" y="0"/>
                </a:lnTo>
                <a:lnTo>
                  <a:pt x="9230808" y="8384244"/>
                </a:lnTo>
                <a:lnTo>
                  <a:pt x="0" y="8384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04447" y="28235"/>
            <a:ext cx="13167272" cy="173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BLOCK </a:t>
            </a:r>
            <a:r>
              <a:rPr lang="en-US" sz="87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835952" y="3470224"/>
          <a:ext cx="10616096" cy="5920418"/>
        </p:xfrm>
        <a:graphic>
          <a:graphicData uri="http://schemas.openxmlformats.org/drawingml/2006/table">
            <a:tbl>
              <a:tblPr/>
              <a:tblGrid>
                <a:gridCol w="5308048"/>
                <a:gridCol w="5308048"/>
              </a:tblGrid>
              <a:tr h="1480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34"/>
                        </a:lnSpc>
                        <a:defRPr/>
                      </a:pPr>
                      <a:r>
                        <a:rPr lang="en-US" sz="3953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Ojas Kudari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34"/>
                        </a:lnSpc>
                        <a:defRPr/>
                      </a:pPr>
                      <a:r>
                        <a:rPr lang="en-US" sz="3953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1BM22EC154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0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34"/>
                        </a:lnSpc>
                        <a:defRPr/>
                      </a:pPr>
                      <a:r>
                        <a:rPr lang="en-US" sz="3953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Rohith Vishnu Achari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34"/>
                        </a:lnSpc>
                        <a:defRPr/>
                      </a:pPr>
                      <a:r>
                        <a:rPr lang="en-US" sz="3953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1BM22EC201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0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34"/>
                        </a:lnSpc>
                        <a:defRPr/>
                      </a:pPr>
                      <a:r>
                        <a:rPr lang="en-US" sz="3953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Sateesh Y Abbigeri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34"/>
                        </a:lnSpc>
                        <a:defRPr/>
                      </a:pPr>
                      <a:r>
                        <a:rPr lang="en-US" sz="3953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1BM22EC223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0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34"/>
                        </a:lnSpc>
                        <a:defRPr/>
                      </a:pPr>
                      <a:r>
                        <a:rPr lang="en-US" sz="3953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Supraja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34"/>
                        </a:lnSpc>
                        <a:defRPr/>
                      </a:pPr>
                      <a:r>
                        <a:rPr lang="en-US" sz="3953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1BM22EC207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71764" y="-309341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DAGUT2KwI7k</dc:identifier>
  <dcterms:modified xsi:type="dcterms:W3CDTF">2011-08-01T06:04:30Z</dcterms:modified>
  <cp:revision>1</cp:revision>
  <dc:title>Synopsis PPT</dc:title>
</cp:coreProperties>
</file>